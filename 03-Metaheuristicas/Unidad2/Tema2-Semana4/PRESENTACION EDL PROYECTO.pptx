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600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083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7154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27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6548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243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181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389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059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68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104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05966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336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845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950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838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5769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02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E738363-3A00-4342-A49D-620D37F9B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26" r="874" b="909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A64ED5-C2B5-4F41-9991-3656B1AAF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endParaRPr lang="es-EC" sz="3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B70E17-95A4-45F1-A342-483C281E0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endParaRPr lang="es-EC" sz="1800"/>
          </a:p>
        </p:txBody>
      </p:sp>
    </p:spTree>
    <p:extLst>
      <p:ext uri="{BB962C8B-B14F-4D97-AF65-F5344CB8AC3E}">
        <p14:creationId xmlns:p14="http://schemas.microsoft.com/office/powerpoint/2010/main" val="2369332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CA0B2-6939-4EFA-B9AE-DB081186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Optimización de configuraciones de las redes neuronales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664889-56A4-40B8-AA0D-2CE55ECA7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¿Qué problema queremos resolver?</a:t>
            </a:r>
          </a:p>
          <a:p>
            <a:r>
              <a:rPr lang="es-MX" b="1" dirty="0"/>
              <a:t>Idea principal</a:t>
            </a:r>
          </a:p>
          <a:p>
            <a:r>
              <a:rPr lang="es-MX" dirty="0"/>
              <a:t>Las redes neuronales: dependen de configuraciones, y una mala configuración produce malos resultados.</a:t>
            </a:r>
          </a:p>
          <a:p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2B9863-5332-4DF8-87C5-E07E0449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898" y="3792223"/>
            <a:ext cx="4397071" cy="24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54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B45A8-0D81-4F24-9B54-5ABED4A6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Optimización de configuraciones de las redes neuronales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C891CF-84F4-4CDA-9642-79D47B78C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Redes neuronales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83693C-B78F-4BB6-AF88-77F38A860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766" y="2392314"/>
            <a:ext cx="6591631" cy="368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5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674B4-139F-45B2-A192-F2D74CE19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configuraciones vamos a optimizar?</a:t>
            </a:r>
            <a:endParaRPr lang="es-EC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0C1E94E-BDD7-48CA-A918-88464F9C79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088" y="2995295"/>
          <a:ext cx="10691812" cy="2194560"/>
        </p:xfrm>
        <a:graphic>
          <a:graphicData uri="http://schemas.openxmlformats.org/drawingml/2006/table">
            <a:tbl>
              <a:tblPr/>
              <a:tblGrid>
                <a:gridCol w="5345906">
                  <a:extLst>
                    <a:ext uri="{9D8B030D-6E8A-4147-A177-3AD203B41FA5}">
                      <a16:colId xmlns:a16="http://schemas.microsoft.com/office/drawing/2014/main" val="1799583143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1708897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C"/>
                        <a:t>Parámetro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/>
                        <a:t>Ejemplo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11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C" dirty="0"/>
                        <a:t>Número de neuronas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/>
                        <a:t>16, 32, 64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22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C" dirty="0" err="1"/>
                        <a:t>Learning</a:t>
                      </a:r>
                      <a:r>
                        <a:rPr lang="es-EC" dirty="0"/>
                        <a:t> </a:t>
                      </a:r>
                      <a:r>
                        <a:rPr lang="es-EC" dirty="0" err="1"/>
                        <a:t>rate</a:t>
                      </a:r>
                      <a:endParaRPr lang="es-EC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/>
                        <a:t>0.001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754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C" dirty="0" err="1"/>
                        <a:t>Batch</a:t>
                      </a:r>
                      <a:r>
                        <a:rPr lang="es-EC" dirty="0"/>
                        <a:t> </a:t>
                      </a:r>
                      <a:r>
                        <a:rPr lang="es-EC" dirty="0" err="1"/>
                        <a:t>size</a:t>
                      </a:r>
                      <a:endParaRPr lang="es-EC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/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919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C"/>
                        <a:t>Número de capas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/>
                        <a:t>1, 2, 3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691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C"/>
                        <a:t>Función de activación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C" dirty="0" err="1"/>
                        <a:t>relu</a:t>
                      </a:r>
                      <a:r>
                        <a:rPr lang="es-EC" dirty="0"/>
                        <a:t>, </a:t>
                      </a:r>
                      <a:r>
                        <a:rPr lang="es-EC" dirty="0" err="1"/>
                        <a:t>tanh</a:t>
                      </a:r>
                      <a:endParaRPr lang="es-EC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651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06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DEE0C-2C65-4B41-9692-1DC8B29A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Problema actual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A2803-4189-4D0F-85B3-8B1172C8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Búsqueda manual</a:t>
            </a:r>
          </a:p>
          <a:p>
            <a:r>
              <a:rPr lang="es-MX" dirty="0"/>
              <a:t>Normalmente: probar configuraciones toma mucho tiempo, es prueba y error, </a:t>
            </a:r>
          </a:p>
          <a:p>
            <a:pPr marL="0" indent="0">
              <a:buNone/>
            </a:pPr>
            <a:r>
              <a:rPr lang="es-MX" dirty="0"/>
              <a:t>no garantiza la mejor solución. </a:t>
            </a:r>
          </a:p>
          <a:p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D12F92-B147-4648-867D-AAFBAA903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513" y="2886158"/>
            <a:ext cx="5463973" cy="30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22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DEE0C-2C65-4B41-9692-1DC8B29A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Solución propuesta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3A2803-4189-4D0F-85B3-8B1172C8B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Usar Metaheurísticas</a:t>
            </a:r>
          </a:p>
          <a:p>
            <a:r>
              <a:rPr lang="es-MX" dirty="0"/>
              <a:t>Los algoritmos buscarán automáticamente:</a:t>
            </a:r>
            <a:br>
              <a:rPr lang="es-MX" dirty="0"/>
            </a:br>
            <a:r>
              <a:rPr lang="es-MX" dirty="0"/>
              <a:t>✅ mejores configuraciones</a:t>
            </a:r>
            <a:br>
              <a:rPr lang="es-MX" dirty="0"/>
            </a:br>
            <a:r>
              <a:rPr lang="es-MX" dirty="0"/>
              <a:t>✅ menor error</a:t>
            </a:r>
            <a:br>
              <a:rPr lang="es-MX" dirty="0"/>
            </a:br>
            <a:r>
              <a:rPr lang="es-MX" dirty="0"/>
              <a:t>✅ mayor </a:t>
            </a:r>
            <a:r>
              <a:rPr lang="es-MX" dirty="0" err="1"/>
              <a:t>accuracy</a:t>
            </a:r>
            <a:endParaRPr lang="es-MX" dirty="0"/>
          </a:p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0064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D0E86-0423-4DDA-9F93-4282B183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Metaheurísticas que utilizaremos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38446E-EFC4-457C-BF07-8F462908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b="1" dirty="0"/>
              <a:t>Algoritmos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 err="1"/>
              <a:t>Genetic</a:t>
            </a:r>
            <a:r>
              <a:rPr lang="es-EC" dirty="0"/>
              <a:t> </a:t>
            </a:r>
            <a:r>
              <a:rPr lang="es-EC" dirty="0" err="1"/>
              <a:t>Algorithm</a:t>
            </a:r>
            <a:r>
              <a:rPr lang="es-EC" dirty="0"/>
              <a:t> (GA)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 err="1"/>
              <a:t>Particle</a:t>
            </a:r>
            <a:r>
              <a:rPr lang="es-EC" dirty="0"/>
              <a:t> </a:t>
            </a:r>
            <a:r>
              <a:rPr lang="es-EC" dirty="0" err="1"/>
              <a:t>Swarm</a:t>
            </a:r>
            <a:r>
              <a:rPr lang="es-EC" dirty="0"/>
              <a:t> </a:t>
            </a:r>
            <a:r>
              <a:rPr lang="es-EC" dirty="0" err="1"/>
              <a:t>Optimization</a:t>
            </a:r>
            <a:r>
              <a:rPr lang="es-EC" dirty="0"/>
              <a:t> (PSO)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 err="1"/>
              <a:t>Simulated</a:t>
            </a:r>
            <a:r>
              <a:rPr lang="es-EC" dirty="0"/>
              <a:t> </a:t>
            </a:r>
            <a:r>
              <a:rPr lang="es-EC" dirty="0" err="1"/>
              <a:t>Annealing</a:t>
            </a:r>
            <a:r>
              <a:rPr lang="es-EC" dirty="0"/>
              <a:t> (SA)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C" dirty="0" err="1"/>
              <a:t>Tabu</a:t>
            </a:r>
            <a:r>
              <a:rPr lang="es-EC" dirty="0"/>
              <a:t> </a:t>
            </a:r>
            <a:r>
              <a:rPr lang="es-EC" dirty="0" err="1"/>
              <a:t>Search</a:t>
            </a:r>
            <a:r>
              <a:rPr lang="es-EC" dirty="0"/>
              <a:t> (TS)</a:t>
            </a:r>
          </a:p>
          <a:p>
            <a:r>
              <a:rPr lang="es-EC" dirty="0"/>
              <a:t>Algoritmos Posteriores</a:t>
            </a:r>
          </a:p>
        </p:txBody>
      </p:sp>
    </p:spTree>
    <p:extLst>
      <p:ext uri="{BB962C8B-B14F-4D97-AF65-F5344CB8AC3E}">
        <p14:creationId xmlns:p14="http://schemas.microsoft.com/office/powerpoint/2010/main" val="295628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C0087-E253-4099-A495-178ACFAAC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Flujo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983117-34FC-470C-8110-AE1B4C694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Metodología</a:t>
            </a:r>
          </a:p>
          <a:p>
            <a:pPr>
              <a:buFont typeface="+mj-lt"/>
              <a:buAutoNum type="arabicPeriod"/>
            </a:pPr>
            <a:r>
              <a:rPr lang="es-MX" dirty="0"/>
              <a:t>Selección del </a:t>
            </a:r>
            <a:r>
              <a:rPr lang="es-MX" dirty="0" err="1"/>
              <a:t>dataset</a:t>
            </a:r>
            <a:r>
              <a:rPr lang="es-MX" dirty="0"/>
              <a:t> </a:t>
            </a:r>
          </a:p>
          <a:p>
            <a:pPr>
              <a:buFont typeface="+mj-lt"/>
              <a:buAutoNum type="arabicPeriod"/>
            </a:pPr>
            <a:r>
              <a:rPr lang="es-MX" dirty="0"/>
              <a:t>Creación de red neuronal base </a:t>
            </a:r>
          </a:p>
          <a:p>
            <a:pPr>
              <a:buFont typeface="+mj-lt"/>
              <a:buAutoNum type="arabicPeriod"/>
            </a:pPr>
            <a:r>
              <a:rPr lang="es-MX" dirty="0"/>
              <a:t>Definición de </a:t>
            </a:r>
            <a:r>
              <a:rPr lang="es-MX" dirty="0" err="1"/>
              <a:t>hiperparámetros</a:t>
            </a:r>
            <a:r>
              <a:rPr lang="es-MX" dirty="0"/>
              <a:t> </a:t>
            </a:r>
          </a:p>
          <a:p>
            <a:pPr>
              <a:buFont typeface="+mj-lt"/>
              <a:buAutoNum type="arabicPeriod"/>
            </a:pPr>
            <a:r>
              <a:rPr lang="es-MX" dirty="0"/>
              <a:t>Optimización con metaheurísticas </a:t>
            </a:r>
          </a:p>
          <a:p>
            <a:pPr>
              <a:buFont typeface="+mj-lt"/>
              <a:buAutoNum type="arabicPeriod"/>
            </a:pPr>
            <a:r>
              <a:rPr lang="es-MX" dirty="0"/>
              <a:t>Benchmarking </a:t>
            </a:r>
          </a:p>
          <a:p>
            <a:pPr>
              <a:buFont typeface="+mj-lt"/>
              <a:buAutoNum type="arabicPeriod"/>
            </a:pPr>
            <a:r>
              <a:rPr lang="es-MX" dirty="0"/>
              <a:t>Análisis de resultados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8493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D7326-7C66-4B34-85C3-A08D98ED8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 err="1"/>
              <a:t>Datasets</a:t>
            </a:r>
            <a:r>
              <a:rPr lang="es-EC" dirty="0"/>
              <a:t> posibles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943C60-CE7A-4ACC-906F-160043634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Opciones</a:t>
            </a: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Iris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Wine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Titanic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Diabetes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MNIST</a:t>
            </a:r>
          </a:p>
          <a:p>
            <a:r>
              <a:rPr lang="es-EC" dirty="0"/>
              <a:t>Cada grupo elige uno (puede ser uno distinto a los presentados)</a:t>
            </a:r>
          </a:p>
        </p:txBody>
      </p:sp>
    </p:spTree>
    <p:extLst>
      <p:ext uri="{BB962C8B-B14F-4D97-AF65-F5344CB8AC3E}">
        <p14:creationId xmlns:p14="http://schemas.microsoft.com/office/powerpoint/2010/main" val="2825027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45AEF-8761-42A1-BE3D-A35F9DBF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Benchmarking Experimental</a:t>
            </a:r>
            <a:br>
              <a:rPr lang="es-MX" b="1" dirty="0"/>
            </a:br>
            <a:r>
              <a:rPr lang="es-MX" b="1" dirty="0"/>
              <a:t>Evaluación de Metaheurísticas</a:t>
            </a:r>
            <a:br>
              <a:rPr lang="es-MX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07EBEE-31D6-4615-A23F-A84FE73FA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Cada grupo:</a:t>
            </a:r>
          </a:p>
          <a:p>
            <a:r>
              <a:rPr lang="es-MX" dirty="0"/>
              <a:t>✅ utilizará su propio </a:t>
            </a:r>
            <a:r>
              <a:rPr lang="es-MX" dirty="0" err="1"/>
              <a:t>dataset</a:t>
            </a:r>
            <a:br>
              <a:rPr lang="es-MX" dirty="0"/>
            </a:br>
            <a:r>
              <a:rPr lang="es-MX" dirty="0"/>
              <a:t>✅ ejecutará los 4 algoritmos metaheurísticos: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MX" dirty="0"/>
              <a:t>GA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MX" dirty="0"/>
              <a:t>PSO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MX" dirty="0"/>
              <a:t>SA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s-MX" dirty="0"/>
              <a:t>TS</a:t>
            </a:r>
          </a:p>
          <a:p>
            <a:r>
              <a:rPr lang="es-MX" b="1" dirty="0"/>
              <a:t>Objetivo del benchmarking</a:t>
            </a:r>
          </a:p>
          <a:p>
            <a:pPr lvl="1"/>
            <a:r>
              <a:rPr lang="es-MX" dirty="0"/>
              <a:t>Comparar: qué algoritmo encuentra mejores configuraciones, </a:t>
            </a:r>
          </a:p>
          <a:p>
            <a:pPr marL="0" indent="0">
              <a:buNone/>
            </a:pPr>
            <a:r>
              <a:rPr lang="es-MX" dirty="0"/>
              <a:t>		cuál es más estable, y cómo cambia el comportamiento según 		el tipo de </a:t>
            </a:r>
            <a:r>
              <a:rPr lang="es-MX" dirty="0" err="1"/>
              <a:t>dataset</a:t>
            </a:r>
            <a:r>
              <a:rPr lang="es-MX" dirty="0"/>
              <a:t>. 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8201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BF7CB-61B6-4946-9535-7B63400E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Visualización y Análisis</a:t>
            </a:r>
            <a:br>
              <a:rPr lang="es-MX" b="1" dirty="0"/>
            </a:br>
            <a:r>
              <a:rPr lang="es-MX" b="1" dirty="0"/>
              <a:t>Herramientas de análisis</a:t>
            </a:r>
            <a:br>
              <a:rPr lang="es-MX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B05FF-3CC1-4BA7-861A-2A43F2C5A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Cada grupo generará:</a:t>
            </a:r>
          </a:p>
          <a:p>
            <a:pPr marL="0" indent="0">
              <a:buNone/>
            </a:pPr>
            <a:r>
              <a:rPr lang="es-MX" dirty="0"/>
              <a:t>✅ </a:t>
            </a:r>
            <a:r>
              <a:rPr lang="es-MX" dirty="0" err="1"/>
              <a:t>Boxplots</a:t>
            </a:r>
            <a:r>
              <a:rPr lang="es-MX" dirty="0"/>
              <a:t> comparativos</a:t>
            </a:r>
            <a:br>
              <a:rPr lang="es-MX" dirty="0"/>
            </a:br>
            <a:r>
              <a:rPr lang="es-MX" dirty="0"/>
              <a:t>✅ Curvas de convergencia</a:t>
            </a:r>
            <a:br>
              <a:rPr lang="es-MX" dirty="0"/>
            </a:br>
            <a:r>
              <a:rPr lang="es-MX" dirty="0"/>
              <a:t>✅ Tablas comparativas</a:t>
            </a:r>
            <a:br>
              <a:rPr lang="es-MX" dirty="0"/>
            </a:br>
            <a:r>
              <a:rPr lang="es-MX" dirty="0"/>
              <a:t>✅ Gráficos de </a:t>
            </a:r>
            <a:r>
              <a:rPr lang="es-MX" dirty="0" err="1"/>
              <a:t>accuracy</a:t>
            </a:r>
            <a:r>
              <a:rPr lang="es-MX" dirty="0"/>
              <a:t> y </a:t>
            </a:r>
            <a:r>
              <a:rPr lang="es-MX" dirty="0" err="1"/>
              <a:t>loss</a:t>
            </a:r>
            <a:endParaRPr lang="es-MX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8577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1BA2E-8F57-4F5E-8FCB-D0D03B609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Interpretación del </a:t>
            </a:r>
            <a:r>
              <a:rPr lang="es-EC" dirty="0" err="1"/>
              <a:t>Boxplot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0729A-F3B5-4A6A-B13A-2E746DD06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C" dirty="0"/>
              <a:t>¿Qué observaremos?</a:t>
            </a:r>
          </a:p>
          <a:p>
            <a:r>
              <a:rPr lang="es-MX" dirty="0"/>
              <a:t>Los </a:t>
            </a:r>
            <a:r>
              <a:rPr lang="es-MX" dirty="0" err="1"/>
              <a:t>Boxplots</a:t>
            </a:r>
            <a:r>
              <a:rPr lang="es-MX" dirty="0"/>
              <a:t> permitirán identificar:</a:t>
            </a:r>
          </a:p>
          <a:p>
            <a:pPr marL="0" indent="0">
              <a:buNone/>
            </a:pPr>
            <a:r>
              <a:rPr lang="es-MX" dirty="0"/>
              <a:t>✅ algoritmo más estable</a:t>
            </a:r>
            <a:br>
              <a:rPr lang="es-MX" dirty="0"/>
            </a:br>
            <a:r>
              <a:rPr lang="es-MX" dirty="0"/>
              <a:t>✅ menor dispersión</a:t>
            </a:r>
            <a:br>
              <a:rPr lang="es-MX" dirty="0"/>
            </a:br>
            <a:r>
              <a:rPr lang="es-MX" dirty="0"/>
              <a:t>✅ mejor </a:t>
            </a:r>
            <a:r>
              <a:rPr lang="es-MX" dirty="0" err="1"/>
              <a:t>accuracy</a:t>
            </a:r>
            <a:r>
              <a:rPr lang="es-MX" dirty="0"/>
              <a:t> promedio</a:t>
            </a:r>
            <a:br>
              <a:rPr lang="es-MX" dirty="0"/>
            </a:br>
            <a:r>
              <a:rPr lang="es-MX" dirty="0"/>
              <a:t>✅ posibles </a:t>
            </a:r>
            <a:r>
              <a:rPr lang="es-MX" dirty="0" err="1"/>
              <a:t>outliers</a:t>
            </a:r>
            <a:br>
              <a:rPr lang="es-MX" dirty="0"/>
            </a:br>
            <a:r>
              <a:rPr lang="es-MX" dirty="0"/>
              <a:t>✅ comportamiento de convergencia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52816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85E502-91CC-4FDA-B4CE-9BD62FD3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Organización de los grupos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A4E514-8B4B-4C4F-953C-65D7E6893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Trabajo colaborativo</a:t>
            </a:r>
          </a:p>
          <a:p>
            <a:r>
              <a:rPr lang="es-MX" dirty="0"/>
              <a:t>Cada grupo:</a:t>
            </a:r>
          </a:p>
          <a:p>
            <a:r>
              <a:rPr lang="es-MX" dirty="0"/>
              <a:t>✅ seleccionará su propio </a:t>
            </a:r>
            <a:r>
              <a:rPr lang="es-MX" dirty="0" err="1"/>
              <a:t>dataset</a:t>
            </a:r>
            <a:br>
              <a:rPr lang="es-MX" dirty="0"/>
            </a:br>
            <a:r>
              <a:rPr lang="es-MX" dirty="0"/>
              <a:t>✅ implementará los 4 algoritmos</a:t>
            </a:r>
            <a:br>
              <a:rPr lang="es-MX" dirty="0"/>
            </a:br>
            <a:r>
              <a:rPr lang="es-MX" dirty="0"/>
              <a:t>✅ realizará benchmarking completo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5384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DB799-98BC-4827-ADA9-5BD7606FB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Potencial científico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1229EC-2352-408E-8E6B-E9FA38C2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Proyección académica</a:t>
            </a:r>
          </a:p>
          <a:p>
            <a:r>
              <a:rPr lang="es-MX" dirty="0"/>
              <a:t>Este proyecto tiene potencial para:</a:t>
            </a:r>
          </a:p>
          <a:p>
            <a:r>
              <a:rPr lang="es-MX" dirty="0"/>
              <a:t>✅ semilleros de investigación</a:t>
            </a:r>
            <a:br>
              <a:rPr lang="es-MX" dirty="0"/>
            </a:br>
            <a:r>
              <a:rPr lang="es-MX" dirty="0"/>
              <a:t>✅ congresos científicos</a:t>
            </a:r>
            <a:br>
              <a:rPr lang="es-MX" dirty="0"/>
            </a:br>
            <a:r>
              <a:rPr lang="es-MX" dirty="0"/>
              <a:t>✅ artículos académicos</a:t>
            </a:r>
            <a:br>
              <a:rPr lang="es-MX" dirty="0"/>
            </a:br>
            <a:r>
              <a:rPr lang="es-MX" dirty="0"/>
              <a:t>✅ proyectos interdisciplinarios</a:t>
            </a:r>
            <a:br>
              <a:rPr lang="es-MX" dirty="0"/>
            </a:br>
            <a:r>
              <a:rPr lang="es-MX" dirty="0"/>
              <a:t>✅ investigación aplicada en IA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4429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DBF243-0B98-4BB6-ACDA-01DAA875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Aplicaciones reales</a:t>
            </a:r>
            <a:br>
              <a:rPr lang="es-MX" b="1" dirty="0"/>
            </a:br>
            <a:r>
              <a:rPr lang="es-MX" b="1" dirty="0"/>
              <a:t>Áreas de aplicación</a:t>
            </a:r>
            <a:br>
              <a:rPr lang="es-MX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9D52E4-E4FF-4139-B2EA-EAA353CF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dirty="0"/>
              <a:t>Las redes neuronales optimizadas pueden aplicarse en:</a:t>
            </a:r>
          </a:p>
          <a:p>
            <a:r>
              <a:rPr lang="es-MX" dirty="0"/>
              <a:t>🏥 Medicina</a:t>
            </a:r>
            <a:br>
              <a:rPr lang="es-MX" dirty="0"/>
            </a:br>
            <a:r>
              <a:rPr lang="es-MX" dirty="0"/>
              <a:t>💰 Finanzas</a:t>
            </a:r>
            <a:br>
              <a:rPr lang="es-MX" dirty="0"/>
            </a:br>
            <a:r>
              <a:rPr lang="es-MX" dirty="0"/>
              <a:t>🌦️ Predicción climática</a:t>
            </a:r>
            <a:br>
              <a:rPr lang="es-MX" dirty="0"/>
            </a:br>
            <a:r>
              <a:rPr lang="es-MX" dirty="0"/>
              <a:t>🤖 Robótica</a:t>
            </a:r>
            <a:br>
              <a:rPr lang="es-MX" dirty="0"/>
            </a:br>
            <a:r>
              <a:rPr lang="es-MX" dirty="0"/>
              <a:t>👁️ Visión artificial</a:t>
            </a:r>
            <a:br>
              <a:rPr lang="es-MX" dirty="0"/>
            </a:br>
            <a:r>
              <a:rPr lang="es-MX" dirty="0"/>
              <a:t>📈 Ciencia de datos</a:t>
            </a:r>
            <a:br>
              <a:rPr lang="es-MX" dirty="0"/>
            </a:br>
            <a:r>
              <a:rPr lang="es-MX" dirty="0"/>
              <a:t>🌱 Monitoreo ambiental</a:t>
            </a:r>
          </a:p>
          <a:p>
            <a:r>
              <a:rPr lang="es-MX" b="1" dirty="0"/>
              <a:t>Ejemplos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diagnóstico médico,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predicción de enfermedades,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clasificación de imágenes,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detección de patrones,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sistemas inteligentes. 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93218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5C164-D892-491D-84C8-883A58BF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b="1" dirty="0"/>
              <a:t>Resultados esperados</a:t>
            </a:r>
            <a:br>
              <a:rPr lang="es-EC" b="1" dirty="0"/>
            </a:br>
            <a:r>
              <a:rPr lang="es-EC" b="1" dirty="0"/>
              <a:t>Esperamos obtener</a:t>
            </a:r>
            <a:br>
              <a:rPr lang="es-EC" b="1" dirty="0"/>
            </a:b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9C9BC0-97A0-46FB-ADD1-D2C768AC6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Configuraciones óptimas de redes neuronales</a:t>
            </a:r>
            <a:br>
              <a:rPr lang="es-MX" dirty="0"/>
            </a:br>
            <a:r>
              <a:rPr lang="es-MX" dirty="0"/>
              <a:t>✅ mejoras en </a:t>
            </a:r>
            <a:r>
              <a:rPr lang="es-MX" dirty="0" err="1"/>
              <a:t>accuracy</a:t>
            </a:r>
            <a:r>
              <a:rPr lang="es-MX" dirty="0"/>
              <a:t> y reducción de </a:t>
            </a:r>
            <a:r>
              <a:rPr lang="es-MX" dirty="0" err="1"/>
              <a:t>loss</a:t>
            </a:r>
            <a:br>
              <a:rPr lang="es-MX" dirty="0"/>
            </a:br>
            <a:r>
              <a:rPr lang="es-MX" dirty="0"/>
              <a:t>✅ algoritmos más estables y robustos</a:t>
            </a:r>
            <a:br>
              <a:rPr lang="es-MX" dirty="0"/>
            </a:br>
            <a:r>
              <a:rPr lang="es-MX" dirty="0"/>
              <a:t>✅ comparación real entre metaheurísticas</a:t>
            </a:r>
            <a:br>
              <a:rPr lang="es-MX" dirty="0"/>
            </a:br>
            <a:r>
              <a:rPr lang="es-MX" dirty="0"/>
              <a:t>✅ análisis estadístico mediante benchmarking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123516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</TotalTime>
  <Words>471</Words>
  <Application>Microsoft Office PowerPoint</Application>
  <PresentationFormat>Panorámica</PresentationFormat>
  <Paragraphs>85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Wingdings</vt:lpstr>
      <vt:lpstr>Wingdings 3</vt:lpstr>
      <vt:lpstr>Ion</vt:lpstr>
      <vt:lpstr>Presentación de PowerPoint</vt:lpstr>
      <vt:lpstr>Optimización de configuraciones de las redes neuronales</vt:lpstr>
      <vt:lpstr>Optimización de configuraciones de las redes neuronales</vt:lpstr>
      <vt:lpstr>¿Qué configuraciones vamos a optimizar?</vt:lpstr>
      <vt:lpstr>Problema actual</vt:lpstr>
      <vt:lpstr>Solución propuesta</vt:lpstr>
      <vt:lpstr>Metaheurísticas que utilizaremos</vt:lpstr>
      <vt:lpstr>Flujo del proyecto</vt:lpstr>
      <vt:lpstr>Datasets posibles</vt:lpstr>
      <vt:lpstr>Benchmarking Experimental Evaluación de Metaheurísticas </vt:lpstr>
      <vt:lpstr>Visualización y Análisis Herramientas de análisis </vt:lpstr>
      <vt:lpstr>Interpretación del Boxplot</vt:lpstr>
      <vt:lpstr>Organización de los grupos</vt:lpstr>
      <vt:lpstr>Potencial científico del proyecto</vt:lpstr>
      <vt:lpstr>Aplicaciones reales Áreas de aplicación </vt:lpstr>
      <vt:lpstr>Resultados esperados Esperamos obtener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Marco Javier Castelo</dc:creator>
  <cp:lastModifiedBy>Marco Javier Castelo</cp:lastModifiedBy>
  <cp:revision>4</cp:revision>
  <dcterms:created xsi:type="dcterms:W3CDTF">2026-05-20T00:19:36Z</dcterms:created>
  <dcterms:modified xsi:type="dcterms:W3CDTF">2026-05-20T02:39:16Z</dcterms:modified>
</cp:coreProperties>
</file>